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Arvo"/>
      <p:regular r:id="rId17"/>
      <p:bold r:id="rId18"/>
      <p:italic r:id="rId19"/>
      <p:boldItalic r:id="rId20"/>
    </p:embeddedFont>
    <p:embeddedFont>
      <p:font typeface="Roboto Condensed"/>
      <p:regular r:id="rId21"/>
      <p:bold r:id="rId22"/>
      <p:italic r:id="rId23"/>
      <p:boldItalic r:id="rId24"/>
    </p:embeddedFont>
    <p:embeddedFont>
      <p:font typeface="Roboto Condensed Ligh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ggK3r9bMVGVW7qg+hvUrTZ6Wkd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vo-boldItalic.fntdata"/><Relationship Id="rId22" Type="http://schemas.openxmlformats.org/officeDocument/2006/relationships/font" Target="fonts/RobotoCondensed-bold.fntdata"/><Relationship Id="rId21" Type="http://schemas.openxmlformats.org/officeDocument/2006/relationships/font" Target="fonts/RobotoCondensed-regular.fntdata"/><Relationship Id="rId24" Type="http://schemas.openxmlformats.org/officeDocument/2006/relationships/font" Target="fonts/RobotoCondensed-boldItalic.fntdata"/><Relationship Id="rId23" Type="http://schemas.openxmlformats.org/officeDocument/2006/relationships/font" Target="fonts/RobotoCondensed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CondensedLight-bold.fntdata"/><Relationship Id="rId25" Type="http://schemas.openxmlformats.org/officeDocument/2006/relationships/font" Target="fonts/RobotoCondensedLight-regular.fntdata"/><Relationship Id="rId28" Type="http://schemas.openxmlformats.org/officeDocument/2006/relationships/font" Target="fonts/RobotoCondensedLight-boldItalic.fntdata"/><Relationship Id="rId27" Type="http://schemas.openxmlformats.org/officeDocument/2006/relationships/font" Target="fonts/RobotoCondensed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rvo-regular.fntdata"/><Relationship Id="rId16" Type="http://schemas.openxmlformats.org/officeDocument/2006/relationships/slide" Target="slides/slide12.xml"/><Relationship Id="rId19" Type="http://schemas.openxmlformats.org/officeDocument/2006/relationships/font" Target="fonts/Arvo-italic.fntdata"/><Relationship Id="rId18" Type="http://schemas.openxmlformats.org/officeDocument/2006/relationships/font" Target="fonts/Arv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Orientações Gerais: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São 15 minutos para apresentação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a72ef4b6a_0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a72ef4b6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a72ef4b6a_0_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a72ef4b6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a72ef4b6a_0_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a72ef4b6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a72ef4b6a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a72ef4b6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a72ef4b6a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a72ef4b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a72ef4b6a_0_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a72ef4b6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fmla="val 3242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18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18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8"/>
            <p:cNvSpPr/>
            <p:nvPr/>
          </p:nvSpPr>
          <p:spPr>
            <a:xfrm flipH="1" rot="10800000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18"/>
          <p:cNvGrpSpPr/>
          <p:nvPr/>
        </p:nvGrpSpPr>
        <p:grpSpPr>
          <a:xfrm flipH="1" rot="10800000">
            <a:off x="1" y="1090763"/>
            <a:ext cx="8847502" cy="2961975"/>
            <a:chOff x="-8178042" y="-4493254"/>
            <a:chExt cx="19483597" cy="6522736"/>
          </a:xfrm>
        </p:grpSpPr>
        <p:sp>
          <p:nvSpPr>
            <p:cNvPr id="15" name="Google Shape;15;p18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18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18"/>
          <p:cNvGrpSpPr/>
          <p:nvPr/>
        </p:nvGrpSpPr>
        <p:grpSpPr>
          <a:xfrm>
            <a:off x="3677236" y="4278349"/>
            <a:ext cx="5480828" cy="432996"/>
            <a:chOff x="5582265" y="4646738"/>
            <a:chExt cx="5480828" cy="432996"/>
          </a:xfrm>
        </p:grpSpPr>
        <p:sp>
          <p:nvSpPr>
            <p:cNvPr id="18" name="Google Shape;18;p18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" name="Google Shape;19;p18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18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18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" name="Google Shape;22;p18"/>
          <p:cNvSpPr txBox="1"/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23" name="Google Shape;2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53528" y="2270155"/>
            <a:ext cx="1391488" cy="1970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3554" y="64055"/>
            <a:ext cx="1452366" cy="96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8"/>
          <p:cNvSpPr txBox="1"/>
          <p:nvPr/>
        </p:nvSpPr>
        <p:spPr>
          <a:xfrm>
            <a:off x="4082374" y="4640093"/>
            <a:ext cx="4944893" cy="503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Condensed"/>
              <a:buNone/>
            </a:pPr>
            <a:r>
              <a:rPr b="1" i="0" lang="pt-BR" sz="1800" u="none" cap="none" strike="noStrike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Faculdade Anhanguera de Uberlândia</a:t>
            </a:r>
            <a:endParaRPr/>
          </a:p>
        </p:txBody>
      </p:sp>
      <p:sp>
        <p:nvSpPr>
          <p:cNvPr id="26" name="Google Shape;26;p18"/>
          <p:cNvSpPr txBox="1"/>
          <p:nvPr/>
        </p:nvSpPr>
        <p:spPr>
          <a:xfrm>
            <a:off x="7746892" y="2048480"/>
            <a:ext cx="11993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Ciência da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Computação</a:t>
            </a:r>
            <a:endParaRPr b="0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19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29" name="Google Shape;29;p19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" name="Google Shape;30;p19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1" name="Google Shape;31;p19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19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" name="Google Shape;33;p19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4" name="Google Shape;34;p19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19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" name="Google Shape;36;p19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37" name="Google Shape;37;p19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38" name="Google Shape;38;p19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39" name="Google Shape;39;p19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40" name="Google Shape;40;p1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1" name="Google Shape;41;p19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42" name="Google Shape;42;p19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43" name="Google Shape;43;p1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44" name="Google Shape;44;p19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" type="body"/>
          </p:nvPr>
        </p:nvSpPr>
        <p:spPr>
          <a:xfrm>
            <a:off x="173736" y="1407332"/>
            <a:ext cx="8759952" cy="3065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▰"/>
              <a:defRPr sz="2000"/>
            </a:lvl1pPr>
            <a:lvl2pPr indent="-3810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indent="-3810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indent="-3810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indent="-3810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indent="-3810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indent="-3810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indent="-3810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indent="-3810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7" name="Google Shape;4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41042" y="157822"/>
            <a:ext cx="1452366" cy="963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" name="Google Shape;48;p19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49" name="Google Shape;49;p19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9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9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9"/>
            <p:cNvSpPr/>
            <p:nvPr/>
          </p:nvSpPr>
          <p:spPr>
            <a:xfrm>
              <a:off x="2801675" y="1740825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fmla="val 32425" name="adj"/>
            </a:avLst>
          </a:prstGeom>
          <a:solidFill>
            <a:srgbClr val="2632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55" name="Google Shape;55;p20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6" name="Google Shape;56;p20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0"/>
            <p:cNvSpPr/>
            <p:nvPr/>
          </p:nvSpPr>
          <p:spPr>
            <a:xfrm flipH="1" rot="10800000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58" name="Google Shape;58;p20"/>
          <p:cNvGrpSpPr/>
          <p:nvPr/>
        </p:nvGrpSpPr>
        <p:grpSpPr>
          <a:xfrm flipH="1" rot="10800000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59" name="Google Shape;59;p20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60" name="Google Shape;60;p20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61" name="Google Shape;61;p2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62" name="Google Shape;62;p2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" name="Google Shape;63;p2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64" name="Google Shape;64;p2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2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" name="Google Shape;66;p2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67" name="Google Shape;67;p2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2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9" name="Google Shape;69;p20"/>
          <p:cNvSpPr txBox="1"/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0" name="Google Shape;70;p20"/>
          <p:cNvSpPr txBox="1"/>
          <p:nvPr>
            <p:ph idx="1" type="subTitle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2" name="Google Shape;7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06450" y="1495531"/>
            <a:ext cx="1938566" cy="2744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3554" y="64055"/>
            <a:ext cx="1452366" cy="9631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0"/>
          <p:cNvSpPr txBox="1"/>
          <p:nvPr/>
        </p:nvSpPr>
        <p:spPr>
          <a:xfrm>
            <a:off x="7476049" y="1488425"/>
            <a:ext cx="11993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Ciência da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Computação</a:t>
            </a:r>
            <a:endParaRPr b="0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b="0" i="0" sz="2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 txBox="1"/>
          <p:nvPr>
            <p:ph type="ctrTitle"/>
          </p:nvPr>
        </p:nvSpPr>
        <p:spPr>
          <a:xfrm>
            <a:off x="235575" y="1090750"/>
            <a:ext cx="7263600" cy="29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4400"/>
              <a:t>Automação de Processos: Impactos na </a:t>
            </a:r>
            <a:r>
              <a:rPr lang="pt-BR" sz="4400"/>
              <a:t>eficiência</a:t>
            </a:r>
            <a:r>
              <a:rPr lang="pt-BR" sz="4400"/>
              <a:t> operacional das empresas</a:t>
            </a:r>
            <a:endParaRPr sz="4400"/>
          </a:p>
        </p:txBody>
      </p:sp>
      <p:sp>
        <p:nvSpPr>
          <p:cNvPr id="80" name="Google Shape;80;p1"/>
          <p:cNvSpPr txBox="1"/>
          <p:nvPr/>
        </p:nvSpPr>
        <p:spPr>
          <a:xfrm>
            <a:off x="0" y="4163425"/>
            <a:ext cx="3743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Condensed"/>
              <a:buNone/>
            </a:pPr>
            <a:r>
              <a:rPr b="1" i="0" lang="pt-BR" sz="2000" u="none" cap="none" strike="noStrike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Aluno(a): Lucas Garcia Côrtes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Condensed"/>
              <a:buNone/>
            </a:pPr>
            <a:r>
              <a:rPr b="1" i="0" lang="pt-BR" sz="2000" u="none" cap="none" strike="noStrike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Tutor(a): Maxwell Nunes do Carmo</a:t>
            </a:r>
            <a:endParaRPr b="1" i="0" sz="2000" u="none" cap="none" strike="noStrike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86" name="Google Shape;86;p6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" name="Google Shape;87;p6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pt-BR" sz="12000" u="none" cap="none" strike="noStrike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b="1" i="0" sz="3000" u="none" cap="none" strike="noStrike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93" name="Google Shape;93;p7"/>
          <p:cNvSpPr txBox="1"/>
          <p:nvPr>
            <p:ph idx="1" type="body"/>
          </p:nvPr>
        </p:nvSpPr>
        <p:spPr>
          <a:xfrm>
            <a:off x="173736" y="1407332"/>
            <a:ext cx="8759952" cy="3065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pt-BR" sz="2200"/>
              <a:t>Apresentação Aluno</a:t>
            </a:r>
            <a:endParaRPr sz="2200"/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200"/>
              <a:t>Porque da escolha do tema</a:t>
            </a:r>
            <a:endParaRPr sz="2200"/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200"/>
              <a:t>O que é Automação de Processos e automatizar</a:t>
            </a:r>
            <a:endParaRPr sz="2200"/>
          </a:p>
        </p:txBody>
      </p:sp>
      <p:sp>
        <p:nvSpPr>
          <p:cNvPr id="94" name="Google Shape;94;p7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/>
          <p:nvPr>
            <p:ph idx="1" type="body"/>
          </p:nvPr>
        </p:nvSpPr>
        <p:spPr>
          <a:xfrm>
            <a:off x="173736" y="1407332"/>
            <a:ext cx="8759952" cy="3065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Rápida</a:t>
            </a:r>
            <a:r>
              <a:rPr lang="pt-BR"/>
              <a:t> e breve Contextualização </a:t>
            </a:r>
            <a:r>
              <a:rPr lang="pt-BR"/>
              <a:t>Histórica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Século XX: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000"/>
              <a:t>Henry Ford - Linha de Montagem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Controladores programáveis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Robôs para soldagem, pintura e montagem</a:t>
            </a:r>
            <a:endParaRPr sz="2000"/>
          </a:p>
        </p:txBody>
      </p:sp>
      <p:sp>
        <p:nvSpPr>
          <p:cNvPr id="100" name="Google Shape;100;p9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>
            <p:ph idx="1" type="body"/>
          </p:nvPr>
        </p:nvSpPr>
        <p:spPr>
          <a:xfrm>
            <a:off x="173736" y="1407332"/>
            <a:ext cx="8759952" cy="3065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Tecnologia</a:t>
            </a:r>
            <a:r>
              <a:rPr lang="pt-BR"/>
              <a:t> de Automação RPA, Robotic Process Automation, automação </a:t>
            </a:r>
            <a:r>
              <a:rPr lang="pt-BR"/>
              <a:t>robótica</a:t>
            </a:r>
            <a:r>
              <a:rPr lang="pt-BR"/>
              <a:t> de processos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Python, N8N, IA</a:t>
            </a:r>
            <a:endParaRPr/>
          </a:p>
        </p:txBody>
      </p:sp>
      <p:sp>
        <p:nvSpPr>
          <p:cNvPr id="106" name="Google Shape;106;p11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a72ef4b6a_0_28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Python</a:t>
            </a:r>
            <a:endParaRPr/>
          </a:p>
        </p:txBody>
      </p:sp>
      <p:sp>
        <p:nvSpPr>
          <p:cNvPr id="112" name="Google Shape;112;g3aa72ef4b6a_0_28"/>
          <p:cNvSpPr txBox="1"/>
          <p:nvPr>
            <p:ph idx="1" type="body"/>
          </p:nvPr>
        </p:nvSpPr>
        <p:spPr>
          <a:xfrm>
            <a:off x="173736" y="1407332"/>
            <a:ext cx="87600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O que é Python?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Como usa? </a:t>
            </a:r>
            <a:r>
              <a:rPr lang="pt-BR"/>
              <a:t>grátis</a:t>
            </a:r>
            <a:r>
              <a:rPr lang="pt-BR"/>
              <a:t>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Tipos de automação com ele, PyAutoGui e Selenium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Dificuldades e impactos que empresas enfrentam ao adotarem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site: www.python.org</a:t>
            </a:r>
            <a:endParaRPr/>
          </a:p>
        </p:txBody>
      </p:sp>
      <p:sp>
        <p:nvSpPr>
          <p:cNvPr id="113" name="Google Shape;113;g3aa72ef4b6a_0_28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a72ef4b6a_0_34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N8N</a:t>
            </a:r>
            <a:endParaRPr/>
          </a:p>
        </p:txBody>
      </p:sp>
      <p:sp>
        <p:nvSpPr>
          <p:cNvPr id="119" name="Google Shape;119;g3aa72ef4b6a_0_34"/>
          <p:cNvSpPr txBox="1"/>
          <p:nvPr>
            <p:ph idx="1" type="body"/>
          </p:nvPr>
        </p:nvSpPr>
        <p:spPr>
          <a:xfrm>
            <a:off x="173736" y="1407332"/>
            <a:ext cx="87600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O que é N8N?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como usa? Gratis?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Interface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Dificuldades e impactos que empresas enfrentam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site: www.n8n.io</a:t>
            </a:r>
            <a:endParaRPr/>
          </a:p>
        </p:txBody>
      </p:sp>
      <p:sp>
        <p:nvSpPr>
          <p:cNvPr id="120" name="Google Shape;120;g3aa72ef4b6a_0_34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72ef4b6a_0_15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Python PyAutoGui</a:t>
            </a:r>
            <a:endParaRPr/>
          </a:p>
        </p:txBody>
      </p:sp>
      <p:sp>
        <p:nvSpPr>
          <p:cNvPr id="126" name="Google Shape;126;g3aa72ef4b6a_0_15"/>
          <p:cNvSpPr txBox="1"/>
          <p:nvPr>
            <p:ph idx="1" type="body"/>
          </p:nvPr>
        </p:nvSpPr>
        <p:spPr>
          <a:xfrm>
            <a:off x="173736" y="1407332"/>
            <a:ext cx="87600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a72ef4b6a_0_15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8" name="Google Shape;128;g3aa72ef4b6a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975" y="1407325"/>
            <a:ext cx="3507525" cy="30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a72ef4b6a_0_7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Python Selenium</a:t>
            </a:r>
            <a:endParaRPr/>
          </a:p>
        </p:txBody>
      </p:sp>
      <p:sp>
        <p:nvSpPr>
          <p:cNvPr id="134" name="Google Shape;134;g3aa72ef4b6a_0_7"/>
          <p:cNvSpPr txBox="1"/>
          <p:nvPr>
            <p:ph idx="1" type="body"/>
          </p:nvPr>
        </p:nvSpPr>
        <p:spPr>
          <a:xfrm>
            <a:off x="173736" y="1407332"/>
            <a:ext cx="87600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aa72ef4b6a_0_7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6" name="Google Shape;136;g3aa72ef4b6a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25" y="1407325"/>
            <a:ext cx="8886825" cy="30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a72ef4b6a_0_0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/>
              <a:t>N8N</a:t>
            </a:r>
            <a:endParaRPr sz="2300"/>
          </a:p>
        </p:txBody>
      </p:sp>
      <p:sp>
        <p:nvSpPr>
          <p:cNvPr id="142" name="Google Shape;142;g3aa72ef4b6a_0_0"/>
          <p:cNvSpPr txBox="1"/>
          <p:nvPr>
            <p:ph idx="1" type="body"/>
          </p:nvPr>
        </p:nvSpPr>
        <p:spPr>
          <a:xfrm>
            <a:off x="173736" y="1407332"/>
            <a:ext cx="87600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aa72ef4b6a_0_0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4" name="Google Shape;144;g3aa72ef4b6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8775"/>
            <a:ext cx="9144000" cy="405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a72ef4b6a_0_22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Inteligência</a:t>
            </a:r>
            <a:r>
              <a:rPr lang="pt-BR"/>
              <a:t> Artificial</a:t>
            </a:r>
            <a:endParaRPr/>
          </a:p>
        </p:txBody>
      </p:sp>
      <p:sp>
        <p:nvSpPr>
          <p:cNvPr id="150" name="Google Shape;150;g3aa72ef4b6a_0_22"/>
          <p:cNvSpPr txBox="1"/>
          <p:nvPr>
            <p:ph idx="1" type="body"/>
          </p:nvPr>
        </p:nvSpPr>
        <p:spPr>
          <a:xfrm>
            <a:off x="173736" y="1407332"/>
            <a:ext cx="87600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O que é </a:t>
            </a:r>
            <a:r>
              <a:rPr lang="pt-BR"/>
              <a:t>Inteligência</a:t>
            </a:r>
            <a:r>
              <a:rPr lang="pt-BR"/>
              <a:t> Artificial?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Possível</a:t>
            </a:r>
            <a:r>
              <a:rPr lang="pt-BR"/>
              <a:t> </a:t>
            </a:r>
            <a:r>
              <a:rPr lang="pt-BR"/>
              <a:t>utilizá</a:t>
            </a:r>
            <a:r>
              <a:rPr lang="pt-BR"/>
              <a:t>-la em automação sem outras ferramentas?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Caro? </a:t>
            </a:r>
            <a:r>
              <a:rPr lang="pt-BR"/>
              <a:t>Difícil</a:t>
            </a:r>
            <a:r>
              <a:rPr lang="pt-BR"/>
              <a:t> de utilizar?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Dificuldades que empresas enfrentam e impactos q isso Gera?</a:t>
            </a:r>
            <a:endParaRPr/>
          </a:p>
        </p:txBody>
      </p:sp>
      <p:sp>
        <p:nvSpPr>
          <p:cNvPr id="151" name="Google Shape;151;g3aa72ef4b6a_0_22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/>
              <a:t>Obrigado(a)!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Max</dc:creator>
</cp:coreProperties>
</file>