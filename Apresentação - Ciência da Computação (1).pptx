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Arvo"/>
      <p:regular r:id="rId19"/>
      <p:bold r:id="rId20"/>
      <p:italic r:id="rId21"/>
      <p:boldItalic r:id="rId22"/>
    </p:embeddedFont>
    <p:embeddedFont>
      <p:font typeface="Roboto Condensed"/>
      <p:regular r:id="rId23"/>
      <p:bold r:id="rId24"/>
      <p:italic r:id="rId25"/>
      <p:boldItalic r:id="rId26"/>
    </p:embeddedFont>
    <p:embeddedFont>
      <p:font typeface="Roboto Condensed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WToFwHbLmatzTqJeL3f8rCXAp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vo-bold.fntdata"/><Relationship Id="rId22" Type="http://schemas.openxmlformats.org/officeDocument/2006/relationships/font" Target="fonts/Arvo-boldItalic.fntdata"/><Relationship Id="rId21" Type="http://schemas.openxmlformats.org/officeDocument/2006/relationships/font" Target="fonts/Arvo-italic.fntdata"/><Relationship Id="rId24" Type="http://schemas.openxmlformats.org/officeDocument/2006/relationships/font" Target="fonts/RobotoCondensed-bold.fntdata"/><Relationship Id="rId23" Type="http://schemas.openxmlformats.org/officeDocument/2006/relationships/font" Target="fonts/RobotoCondense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Condensed-boldItalic.fntdata"/><Relationship Id="rId25" Type="http://schemas.openxmlformats.org/officeDocument/2006/relationships/font" Target="fonts/RobotoCondensed-italic.fntdata"/><Relationship Id="rId28" Type="http://schemas.openxmlformats.org/officeDocument/2006/relationships/font" Target="fonts/RobotoCondensedLight-bold.fntdata"/><Relationship Id="rId27" Type="http://schemas.openxmlformats.org/officeDocument/2006/relationships/font" Target="fonts/RobotoCondensed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Condensed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RobotoCondensed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rvo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Orientações Gerais: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São 15 minutos para apresentação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72ef4b6a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a72ef4b6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a72ef4b6a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a72ef4b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a72ef4b6a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a72ef4b6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72ef4b6a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72ef4b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72ef4b6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a72ef4b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a72ef4b6a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a72ef4b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852fc12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a852fc1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a852fc12b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a852fc12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18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18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8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18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7" cy="6522736"/>
          </a:xfrm>
        </p:grpSpPr>
        <p:sp>
          <p:nvSpPr>
            <p:cNvPr id="15" name="Google Shape;15;p18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18"/>
          <p:cNvGrpSpPr/>
          <p:nvPr/>
        </p:nvGrpSpPr>
        <p:grpSpPr>
          <a:xfrm>
            <a:off x="3677236" y="4278349"/>
            <a:ext cx="5480828" cy="432996"/>
            <a:chOff x="5582265" y="4646738"/>
            <a:chExt cx="5480828" cy="432996"/>
          </a:xfrm>
        </p:grpSpPr>
        <p:sp>
          <p:nvSpPr>
            <p:cNvPr id="18" name="Google Shape;18;p18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9;p18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18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8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18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53528" y="2270155"/>
            <a:ext cx="1391488" cy="1970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554" y="64055"/>
            <a:ext cx="1452366" cy="9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 txBox="1"/>
          <p:nvPr/>
        </p:nvSpPr>
        <p:spPr>
          <a:xfrm>
            <a:off x="4082374" y="4640093"/>
            <a:ext cx="4944893" cy="50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Condensed"/>
              <a:buNone/>
            </a:pPr>
            <a:r>
              <a:rPr b="1" i="0" lang="pt-BR" sz="18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Faculdade Anhanguera de Uberlândia</a:t>
            </a:r>
            <a:endParaRPr/>
          </a:p>
        </p:txBody>
      </p:sp>
      <p:sp>
        <p:nvSpPr>
          <p:cNvPr id="26" name="Google Shape;26;p18"/>
          <p:cNvSpPr txBox="1"/>
          <p:nvPr/>
        </p:nvSpPr>
        <p:spPr>
          <a:xfrm>
            <a:off x="7746892" y="2048480"/>
            <a:ext cx="1199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Ciência da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Computação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9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29" name="Google Shape;29;p1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" name="Google Shape;30;p1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1" name="Google Shape;31;p1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" name="Google Shape;33;p1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4" name="Google Shape;34;p1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" name="Google Shape;36;p19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37" name="Google Shape;37;p19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8" name="Google Shape;38;p19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39" name="Google Shape;39;p19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0" name="Google Shape;40;p1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1" name="Google Shape;41;p19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42" name="Google Shape;42;p19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3" name="Google Shape;43;p1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44" name="Google Shape;44;p19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  <a:defRPr sz="2000"/>
            </a:lvl1pPr>
            <a:lvl2pPr indent="-3810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indent="-3810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indent="-3810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indent="-3810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indent="-3810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indent="-3810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indent="-3810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indent="-3810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" name="Google Shape;4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1042" y="157822"/>
            <a:ext cx="1452366" cy="96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19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49" name="Google Shape;49;p1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9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5" name="Google Shape;55;p20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6" name="Google Shape;56;p20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0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8" name="Google Shape;58;p20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59" name="Google Shape;59;p20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60" name="Google Shape;60;p20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1" name="Google Shape;61;p2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2" name="Google Shape;62;p2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" name="Google Shape;63;p2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4" name="Google Shape;64;p2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2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2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7" name="Google Shape;67;p2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9" name="Google Shape;69;p20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20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2" name="Google Shape;7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6450" y="1495531"/>
            <a:ext cx="1938566" cy="2744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554" y="64055"/>
            <a:ext cx="1452366" cy="9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0"/>
          <p:cNvSpPr txBox="1"/>
          <p:nvPr/>
        </p:nvSpPr>
        <p:spPr>
          <a:xfrm>
            <a:off x="7476049" y="1488425"/>
            <a:ext cx="1199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Ciência da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Computação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ctrTitle"/>
          </p:nvPr>
        </p:nvSpPr>
        <p:spPr>
          <a:xfrm>
            <a:off x="235575" y="1090750"/>
            <a:ext cx="7263600" cy="29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400"/>
              <a:t>Automação de Processos: Impactos na </a:t>
            </a:r>
            <a:r>
              <a:rPr lang="pt-BR" sz="4400"/>
              <a:t>eficiência</a:t>
            </a:r>
            <a:r>
              <a:rPr lang="pt-BR" sz="4400"/>
              <a:t> operacional das empresas</a:t>
            </a:r>
            <a:endParaRPr sz="4400"/>
          </a:p>
        </p:txBody>
      </p:sp>
      <p:sp>
        <p:nvSpPr>
          <p:cNvPr id="80" name="Google Shape;80;p1"/>
          <p:cNvSpPr txBox="1"/>
          <p:nvPr/>
        </p:nvSpPr>
        <p:spPr>
          <a:xfrm>
            <a:off x="0" y="4163425"/>
            <a:ext cx="374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Condensed"/>
              <a:buNone/>
            </a:pPr>
            <a:r>
              <a:rPr b="1" i="0" lang="pt-BR" sz="20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Aluno(a): Lucas Garcia Côrtes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Condensed"/>
              <a:buNone/>
            </a:pPr>
            <a:r>
              <a:rPr b="1" i="0" lang="pt-BR" sz="20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Tutor(a): Maxwell Nunes do Carmo</a:t>
            </a:r>
            <a:endParaRPr b="1" i="0" sz="2000" u="none" cap="none" strike="noStrike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86" name="Google Shape;86;p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pt-BR" sz="120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i="0" sz="3000" u="none" cap="none" strike="noStrike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pt-BR" sz="2200"/>
              <a:t>Apresentação Aluno</a:t>
            </a:r>
            <a:endParaRPr sz="22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200"/>
              <a:t>Porque da escolha do tema</a:t>
            </a:r>
            <a:endParaRPr sz="22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200"/>
              <a:t>O que é Automação de Processos e automatizar</a:t>
            </a:r>
            <a:endParaRPr sz="2200"/>
          </a:p>
        </p:txBody>
      </p:sp>
      <p:sp>
        <p:nvSpPr>
          <p:cNvPr id="94" name="Google Shape;94;p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Rápida</a:t>
            </a:r>
            <a:r>
              <a:rPr lang="pt-BR"/>
              <a:t> e breve Contextualização </a:t>
            </a:r>
            <a:r>
              <a:rPr lang="pt-BR"/>
              <a:t>Histórica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Século XX: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000"/>
              <a:t>Henry Ford - Linha de Montagem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Controladores programáveis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Robôs para soldagem, pintura e montagem</a:t>
            </a:r>
            <a:endParaRPr sz="2000"/>
          </a:p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Tecnologia</a:t>
            </a:r>
            <a:r>
              <a:rPr lang="pt-BR"/>
              <a:t> de Automação RPA, Robotic Process Automation, automação </a:t>
            </a:r>
            <a:r>
              <a:rPr lang="pt-BR"/>
              <a:t>robótica</a:t>
            </a:r>
            <a:r>
              <a:rPr lang="pt-BR"/>
              <a:t> de processos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Python, N8N, IA</a:t>
            </a:r>
            <a:endParaRPr/>
          </a:p>
        </p:txBody>
      </p:sp>
      <p:sp>
        <p:nvSpPr>
          <p:cNvPr id="106" name="Google Shape;106;p1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72ef4b6a_0_28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</a:t>
            </a:r>
            <a:endParaRPr/>
          </a:p>
        </p:txBody>
      </p:sp>
      <p:sp>
        <p:nvSpPr>
          <p:cNvPr id="112" name="Google Shape;112;g3aa72ef4b6a_0_28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que é Python?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Como usa? </a:t>
            </a:r>
            <a:r>
              <a:rPr lang="pt-BR"/>
              <a:t>grátis</a:t>
            </a:r>
            <a:r>
              <a:rPr lang="pt-BR"/>
              <a:t>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Tipos de automação com ele, PyAutoGui e Selenium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Dificuldades e impactos que empresas enfrentam ao adotarem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site: www.python.org</a:t>
            </a:r>
            <a:endParaRPr/>
          </a:p>
        </p:txBody>
      </p:sp>
      <p:sp>
        <p:nvSpPr>
          <p:cNvPr id="113" name="Google Shape;113;g3aa72ef4b6a_0_2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72ef4b6a_0_34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N8N</a:t>
            </a:r>
            <a:endParaRPr/>
          </a:p>
        </p:txBody>
      </p:sp>
      <p:sp>
        <p:nvSpPr>
          <p:cNvPr id="119" name="Google Shape;119;g3aa72ef4b6a_0_34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que é N8N?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como usa? Gratis?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Interface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Dificuldades e impactos que empresas enfrentam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site: www.n8n.io</a:t>
            </a:r>
            <a:endParaRPr/>
          </a:p>
        </p:txBody>
      </p:sp>
      <p:sp>
        <p:nvSpPr>
          <p:cNvPr id="120" name="Google Shape;120;g3aa72ef4b6a_0_3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72ef4b6a_0_1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 PyAutoGui</a:t>
            </a:r>
            <a:endParaRPr/>
          </a:p>
        </p:txBody>
      </p:sp>
      <p:sp>
        <p:nvSpPr>
          <p:cNvPr id="126" name="Google Shape;126;g3aa72ef4b6a_0_15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a72ef4b6a_0_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8" name="Google Shape;128;g3aa72ef4b6a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975" y="1407325"/>
            <a:ext cx="3507525" cy="30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a72ef4b6a_0_7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 Selenium</a:t>
            </a:r>
            <a:endParaRPr/>
          </a:p>
        </p:txBody>
      </p:sp>
      <p:sp>
        <p:nvSpPr>
          <p:cNvPr id="134" name="Google Shape;134;g3aa72ef4b6a_0_7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a72ef4b6a_0_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6" name="Google Shape;136;g3aa72ef4b6a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25" y="1407325"/>
            <a:ext cx="8886825" cy="30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72ef4b6a_0_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N8N</a:t>
            </a:r>
            <a:endParaRPr sz="2300"/>
          </a:p>
        </p:txBody>
      </p:sp>
      <p:sp>
        <p:nvSpPr>
          <p:cNvPr id="142" name="Google Shape;142;g3aa72ef4b6a_0_0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a72ef4b6a_0_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4" name="Google Shape;144;g3aa72ef4b6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8775"/>
            <a:ext cx="9144000" cy="40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72ef4b6a_0_22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Inteligência</a:t>
            </a:r>
            <a:r>
              <a:rPr lang="pt-BR"/>
              <a:t> Artificial</a:t>
            </a:r>
            <a:endParaRPr/>
          </a:p>
        </p:txBody>
      </p:sp>
      <p:sp>
        <p:nvSpPr>
          <p:cNvPr id="150" name="Google Shape;150;g3aa72ef4b6a_0_22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que é </a:t>
            </a:r>
            <a:r>
              <a:rPr lang="pt-BR"/>
              <a:t>Inteligência</a:t>
            </a:r>
            <a:r>
              <a:rPr lang="pt-BR"/>
              <a:t> Artificial?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Possível</a:t>
            </a:r>
            <a:r>
              <a:rPr lang="pt-BR"/>
              <a:t> </a:t>
            </a:r>
            <a:r>
              <a:rPr lang="pt-BR"/>
              <a:t>utilizá</a:t>
            </a:r>
            <a:r>
              <a:rPr lang="pt-BR"/>
              <a:t>-la em automação sem outras ferramentas?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Caro? </a:t>
            </a:r>
            <a:r>
              <a:rPr lang="pt-BR"/>
              <a:t>Difícil</a:t>
            </a:r>
            <a:r>
              <a:rPr lang="pt-BR"/>
              <a:t> de utilizar?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Dificuldades que empresas enfrentam e impactos q isso Gera?</a:t>
            </a:r>
            <a:endParaRPr/>
          </a:p>
        </p:txBody>
      </p:sp>
      <p:sp>
        <p:nvSpPr>
          <p:cNvPr id="151" name="Google Shape;151;g3aa72ef4b6a_0_2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852fc12b_0_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Bibliográficas</a:t>
            </a:r>
            <a:endParaRPr/>
          </a:p>
        </p:txBody>
      </p:sp>
      <p:sp>
        <p:nvSpPr>
          <p:cNvPr id="157" name="Google Shape;157;g3aa852fc12b_0_0"/>
          <p:cNvSpPr txBox="1"/>
          <p:nvPr>
            <p:ph idx="1" type="body"/>
          </p:nvPr>
        </p:nvSpPr>
        <p:spPr>
          <a:xfrm>
            <a:off x="173725" y="1407325"/>
            <a:ext cx="8760000" cy="35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IBM. RPA. Disponível em: &lt;https://www.ibm.com/br-pt/think/topics/rpa&gt;.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‌</a:t>
            </a:r>
            <a:r>
              <a:rPr lang="pt-BR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a automação de processos robóticos (RPA)? | SAP. Disponível em: &lt;https://www.sap.com/brazil/products/technology-platform/process-automation/what-is-rpa.html&gt;.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‌</a:t>
            </a:r>
            <a:r>
              <a:rPr lang="pt-BR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DICKSON, R. Qual é a evolução e a história da Automação? Disponível em: &lt;https://www.firgelliauto.com/pt/blogs/actuators/what-is-the-evolution-and-history-of-automation?srsltid=AfmBOoqXKsceqP-uE90UCaTwtmXubBfalnJKkZrkjdNxjdoQPbVtwHX7&gt;. Acesso em: 27 nov. 2025.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‌</a:t>
            </a:r>
            <a:r>
              <a:rPr lang="pt-BR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IBM. Inteligência artificial. Disponível em: &lt;https://www.ibm.com/br-pt/think/topics/artificial-intelligence&gt;.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‌</a:t>
            </a:r>
            <a:r>
              <a:rPr lang="pt-BR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HABBEMA, H. RPA com Python. Disponível em: &lt;https://medium.com/@habbema/rpa-com-python-1ff609c44445&gt;. Acesso em: 27 nov. 2025.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‌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aa852fc12b_0_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852fc12b_0_14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 Bibliográficas</a:t>
            </a:r>
            <a:endParaRPr/>
          </a:p>
        </p:txBody>
      </p:sp>
      <p:sp>
        <p:nvSpPr>
          <p:cNvPr id="164" name="Google Shape;164;g3aa852fc12b_0_14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n8n - Ferramenta de automatização de fluxos low-code. Disponível em: &lt;https://www.ufsm.br/pet/sistemas-de-informacao/2025/02/21/n8n-ferramenta-de-automatizacao-de-fluxos-low-code&gt;.</a:t>
            </a:r>
            <a:endParaRPr/>
          </a:p>
        </p:txBody>
      </p:sp>
      <p:sp>
        <p:nvSpPr>
          <p:cNvPr id="165" name="Google Shape;165;g3aa852fc12b_0_1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/>
              <a:t>Obrigado(a)!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</dc:creator>
</cp:coreProperties>
</file>